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D2DCB-F37E-196F-D092-DABD1B2A5C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5C15982-369A-D611-EF46-F64E5DCD8F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E5B6DA4-367A-F311-3C66-3127A5FC6C19}"/>
              </a:ext>
            </a:extLst>
          </p:cNvPr>
          <p:cNvSpPr>
            <a:spLocks noGrp="1"/>
          </p:cNvSpPr>
          <p:nvPr>
            <p:ph type="dt" sz="half" idx="10"/>
          </p:nvPr>
        </p:nvSpPr>
        <p:spPr/>
        <p:txBody>
          <a:bodyPr/>
          <a:lstStyle/>
          <a:p>
            <a:fld id="{7A8A7F29-21C4-4D0B-B6C7-15053A84686C}" type="datetimeFigureOut">
              <a:rPr lang="en-IN" smtClean="0"/>
              <a:t>25-04-2026</a:t>
            </a:fld>
            <a:endParaRPr lang="en-IN"/>
          </a:p>
        </p:txBody>
      </p:sp>
      <p:sp>
        <p:nvSpPr>
          <p:cNvPr id="5" name="Footer Placeholder 4">
            <a:extLst>
              <a:ext uri="{FF2B5EF4-FFF2-40B4-BE49-F238E27FC236}">
                <a16:creationId xmlns:a16="http://schemas.microsoft.com/office/drawing/2014/main" id="{59513AA1-2385-EB8E-171A-59C38FF92B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107345-2400-EC83-8754-5EDF68E81B65}"/>
              </a:ext>
            </a:extLst>
          </p:cNvPr>
          <p:cNvSpPr>
            <a:spLocks noGrp="1"/>
          </p:cNvSpPr>
          <p:nvPr>
            <p:ph type="sldNum" sz="quarter" idx="12"/>
          </p:nvPr>
        </p:nvSpPr>
        <p:spPr/>
        <p:txBody>
          <a:bodyPr/>
          <a:lstStyle/>
          <a:p>
            <a:fld id="{1A4A22B5-3B32-4217-8836-CA447901B703}" type="slidenum">
              <a:rPr lang="en-IN" smtClean="0"/>
              <a:t>‹#›</a:t>
            </a:fld>
            <a:endParaRPr lang="en-IN"/>
          </a:p>
        </p:txBody>
      </p:sp>
    </p:spTree>
    <p:extLst>
      <p:ext uri="{BB962C8B-B14F-4D97-AF65-F5344CB8AC3E}">
        <p14:creationId xmlns:p14="http://schemas.microsoft.com/office/powerpoint/2010/main" val="1543656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2E2BF-5AEA-7DB7-4C31-A5233FE7ED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183A32-0593-804F-F207-061AC86E2F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8F8CF0-A2A0-3154-279A-582EF367F7BD}"/>
              </a:ext>
            </a:extLst>
          </p:cNvPr>
          <p:cNvSpPr>
            <a:spLocks noGrp="1"/>
          </p:cNvSpPr>
          <p:nvPr>
            <p:ph type="dt" sz="half" idx="10"/>
          </p:nvPr>
        </p:nvSpPr>
        <p:spPr/>
        <p:txBody>
          <a:bodyPr/>
          <a:lstStyle/>
          <a:p>
            <a:fld id="{7A8A7F29-21C4-4D0B-B6C7-15053A84686C}" type="datetimeFigureOut">
              <a:rPr lang="en-IN" smtClean="0"/>
              <a:t>25-04-2026</a:t>
            </a:fld>
            <a:endParaRPr lang="en-IN"/>
          </a:p>
        </p:txBody>
      </p:sp>
      <p:sp>
        <p:nvSpPr>
          <p:cNvPr id="5" name="Footer Placeholder 4">
            <a:extLst>
              <a:ext uri="{FF2B5EF4-FFF2-40B4-BE49-F238E27FC236}">
                <a16:creationId xmlns:a16="http://schemas.microsoft.com/office/drawing/2014/main" id="{DDFB1F5E-8537-BBAD-82FE-5262C3CCB9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E9EFA1-2D04-A1D2-1F80-33BEB44A6E12}"/>
              </a:ext>
            </a:extLst>
          </p:cNvPr>
          <p:cNvSpPr>
            <a:spLocks noGrp="1"/>
          </p:cNvSpPr>
          <p:nvPr>
            <p:ph type="sldNum" sz="quarter" idx="12"/>
          </p:nvPr>
        </p:nvSpPr>
        <p:spPr/>
        <p:txBody>
          <a:bodyPr/>
          <a:lstStyle/>
          <a:p>
            <a:fld id="{1A4A22B5-3B32-4217-8836-CA447901B703}" type="slidenum">
              <a:rPr lang="en-IN" smtClean="0"/>
              <a:t>‹#›</a:t>
            </a:fld>
            <a:endParaRPr lang="en-IN"/>
          </a:p>
        </p:txBody>
      </p:sp>
    </p:spTree>
    <p:extLst>
      <p:ext uri="{BB962C8B-B14F-4D97-AF65-F5344CB8AC3E}">
        <p14:creationId xmlns:p14="http://schemas.microsoft.com/office/powerpoint/2010/main" val="1617216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B1048-9318-E18A-21B5-0479488ABD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61AC697-FECE-983E-8059-DE4BA87AC6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2BEF03-03A9-B752-9C46-8AC074854AD1}"/>
              </a:ext>
            </a:extLst>
          </p:cNvPr>
          <p:cNvSpPr>
            <a:spLocks noGrp="1"/>
          </p:cNvSpPr>
          <p:nvPr>
            <p:ph type="dt" sz="half" idx="10"/>
          </p:nvPr>
        </p:nvSpPr>
        <p:spPr/>
        <p:txBody>
          <a:bodyPr/>
          <a:lstStyle/>
          <a:p>
            <a:fld id="{7A8A7F29-21C4-4D0B-B6C7-15053A84686C}" type="datetimeFigureOut">
              <a:rPr lang="en-IN" smtClean="0"/>
              <a:t>25-04-2026</a:t>
            </a:fld>
            <a:endParaRPr lang="en-IN"/>
          </a:p>
        </p:txBody>
      </p:sp>
      <p:sp>
        <p:nvSpPr>
          <p:cNvPr id="5" name="Footer Placeholder 4">
            <a:extLst>
              <a:ext uri="{FF2B5EF4-FFF2-40B4-BE49-F238E27FC236}">
                <a16:creationId xmlns:a16="http://schemas.microsoft.com/office/drawing/2014/main" id="{D20A4137-19B7-171F-F329-DA07242064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AF2F30-18B1-981A-8AB2-FC3FDBA7E66F}"/>
              </a:ext>
            </a:extLst>
          </p:cNvPr>
          <p:cNvSpPr>
            <a:spLocks noGrp="1"/>
          </p:cNvSpPr>
          <p:nvPr>
            <p:ph type="sldNum" sz="quarter" idx="12"/>
          </p:nvPr>
        </p:nvSpPr>
        <p:spPr/>
        <p:txBody>
          <a:bodyPr/>
          <a:lstStyle/>
          <a:p>
            <a:fld id="{1A4A22B5-3B32-4217-8836-CA447901B703}" type="slidenum">
              <a:rPr lang="en-IN" smtClean="0"/>
              <a:t>‹#›</a:t>
            </a:fld>
            <a:endParaRPr lang="en-IN"/>
          </a:p>
        </p:txBody>
      </p:sp>
    </p:spTree>
    <p:extLst>
      <p:ext uri="{BB962C8B-B14F-4D97-AF65-F5344CB8AC3E}">
        <p14:creationId xmlns:p14="http://schemas.microsoft.com/office/powerpoint/2010/main" val="3755981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8F41A-30A4-1189-8C07-C063FD0452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7FA626-E043-3B85-61D8-14DED9D5F1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E47664-C2AB-4A41-FC64-8720794D1D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1A793BA-D7F9-5F49-2A6A-63E3E0BFFCD0}"/>
              </a:ext>
            </a:extLst>
          </p:cNvPr>
          <p:cNvSpPr>
            <a:spLocks noGrp="1"/>
          </p:cNvSpPr>
          <p:nvPr>
            <p:ph type="dt" sz="half" idx="10"/>
          </p:nvPr>
        </p:nvSpPr>
        <p:spPr/>
        <p:txBody>
          <a:bodyPr/>
          <a:lstStyle/>
          <a:p>
            <a:fld id="{7A8A7F29-21C4-4D0B-B6C7-15053A84686C}" type="datetimeFigureOut">
              <a:rPr lang="en-IN" smtClean="0"/>
              <a:t>25-04-2026</a:t>
            </a:fld>
            <a:endParaRPr lang="en-IN"/>
          </a:p>
        </p:txBody>
      </p:sp>
      <p:sp>
        <p:nvSpPr>
          <p:cNvPr id="6" name="Footer Placeholder 5">
            <a:extLst>
              <a:ext uri="{FF2B5EF4-FFF2-40B4-BE49-F238E27FC236}">
                <a16:creationId xmlns:a16="http://schemas.microsoft.com/office/drawing/2014/main" id="{5B22C379-7152-D1D9-4B92-694FD15D26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1B4EB6-DBAB-13AB-AC49-381F97EB4A2F}"/>
              </a:ext>
            </a:extLst>
          </p:cNvPr>
          <p:cNvSpPr>
            <a:spLocks noGrp="1"/>
          </p:cNvSpPr>
          <p:nvPr>
            <p:ph type="sldNum" sz="quarter" idx="12"/>
          </p:nvPr>
        </p:nvSpPr>
        <p:spPr/>
        <p:txBody>
          <a:bodyPr/>
          <a:lstStyle/>
          <a:p>
            <a:fld id="{1A4A22B5-3B32-4217-8836-CA447901B703}" type="slidenum">
              <a:rPr lang="en-IN" smtClean="0"/>
              <a:t>‹#›</a:t>
            </a:fld>
            <a:endParaRPr lang="en-IN"/>
          </a:p>
        </p:txBody>
      </p:sp>
    </p:spTree>
    <p:extLst>
      <p:ext uri="{BB962C8B-B14F-4D97-AF65-F5344CB8AC3E}">
        <p14:creationId xmlns:p14="http://schemas.microsoft.com/office/powerpoint/2010/main" val="241029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82065-055C-EEEC-11F6-9044EB68DD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2A9372-AB65-D3A9-8F19-1889FDE33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D623F2-4198-C85D-EC58-897823EA85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BCF641E-1756-7725-76CA-D2C2EF39E6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A7A7B7-D3BE-864A-5620-0A503DA2C8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1DDE06E-72AC-C8B7-35E4-F9AD4AD618FC}"/>
              </a:ext>
            </a:extLst>
          </p:cNvPr>
          <p:cNvSpPr>
            <a:spLocks noGrp="1"/>
          </p:cNvSpPr>
          <p:nvPr>
            <p:ph type="dt" sz="half" idx="10"/>
          </p:nvPr>
        </p:nvSpPr>
        <p:spPr/>
        <p:txBody>
          <a:bodyPr/>
          <a:lstStyle/>
          <a:p>
            <a:fld id="{7A8A7F29-21C4-4D0B-B6C7-15053A84686C}" type="datetimeFigureOut">
              <a:rPr lang="en-IN" smtClean="0"/>
              <a:t>25-04-2026</a:t>
            </a:fld>
            <a:endParaRPr lang="en-IN"/>
          </a:p>
        </p:txBody>
      </p:sp>
      <p:sp>
        <p:nvSpPr>
          <p:cNvPr id="8" name="Footer Placeholder 7">
            <a:extLst>
              <a:ext uri="{FF2B5EF4-FFF2-40B4-BE49-F238E27FC236}">
                <a16:creationId xmlns:a16="http://schemas.microsoft.com/office/drawing/2014/main" id="{17138F91-CDF6-F6C2-60EA-421FE07E4E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0111A0-76AC-6FD7-74E0-CA2C6E7EB042}"/>
              </a:ext>
            </a:extLst>
          </p:cNvPr>
          <p:cNvSpPr>
            <a:spLocks noGrp="1"/>
          </p:cNvSpPr>
          <p:nvPr>
            <p:ph type="sldNum" sz="quarter" idx="12"/>
          </p:nvPr>
        </p:nvSpPr>
        <p:spPr/>
        <p:txBody>
          <a:bodyPr/>
          <a:lstStyle/>
          <a:p>
            <a:fld id="{1A4A22B5-3B32-4217-8836-CA447901B703}" type="slidenum">
              <a:rPr lang="en-IN" smtClean="0"/>
              <a:t>‹#›</a:t>
            </a:fld>
            <a:endParaRPr lang="en-IN"/>
          </a:p>
        </p:txBody>
      </p:sp>
    </p:spTree>
    <p:extLst>
      <p:ext uri="{BB962C8B-B14F-4D97-AF65-F5344CB8AC3E}">
        <p14:creationId xmlns:p14="http://schemas.microsoft.com/office/powerpoint/2010/main" val="668242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6B2DA-21AE-1CAE-6FF6-C9390D757ED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8F1E8F-EE62-90FF-8845-512281CC764B}"/>
              </a:ext>
            </a:extLst>
          </p:cNvPr>
          <p:cNvSpPr>
            <a:spLocks noGrp="1"/>
          </p:cNvSpPr>
          <p:nvPr>
            <p:ph type="dt" sz="half" idx="10"/>
          </p:nvPr>
        </p:nvSpPr>
        <p:spPr/>
        <p:txBody>
          <a:bodyPr/>
          <a:lstStyle/>
          <a:p>
            <a:fld id="{7A8A7F29-21C4-4D0B-B6C7-15053A84686C}" type="datetimeFigureOut">
              <a:rPr lang="en-IN" smtClean="0"/>
              <a:t>25-04-2026</a:t>
            </a:fld>
            <a:endParaRPr lang="en-IN"/>
          </a:p>
        </p:txBody>
      </p:sp>
      <p:sp>
        <p:nvSpPr>
          <p:cNvPr id="4" name="Footer Placeholder 3">
            <a:extLst>
              <a:ext uri="{FF2B5EF4-FFF2-40B4-BE49-F238E27FC236}">
                <a16:creationId xmlns:a16="http://schemas.microsoft.com/office/drawing/2014/main" id="{385DA7EF-AFF9-A0F4-2EFF-E96F5842356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6564EE-FCC8-4BDD-130C-73A361FDA239}"/>
              </a:ext>
            </a:extLst>
          </p:cNvPr>
          <p:cNvSpPr>
            <a:spLocks noGrp="1"/>
          </p:cNvSpPr>
          <p:nvPr>
            <p:ph type="sldNum" sz="quarter" idx="12"/>
          </p:nvPr>
        </p:nvSpPr>
        <p:spPr/>
        <p:txBody>
          <a:bodyPr/>
          <a:lstStyle/>
          <a:p>
            <a:fld id="{1A4A22B5-3B32-4217-8836-CA447901B703}" type="slidenum">
              <a:rPr lang="en-IN" smtClean="0"/>
              <a:t>‹#›</a:t>
            </a:fld>
            <a:endParaRPr lang="en-IN"/>
          </a:p>
        </p:txBody>
      </p:sp>
    </p:spTree>
    <p:extLst>
      <p:ext uri="{BB962C8B-B14F-4D97-AF65-F5344CB8AC3E}">
        <p14:creationId xmlns:p14="http://schemas.microsoft.com/office/powerpoint/2010/main" val="341530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1BF79-A1C2-B1C8-B440-D3AF1627FDEB}"/>
              </a:ext>
            </a:extLst>
          </p:cNvPr>
          <p:cNvSpPr>
            <a:spLocks noGrp="1"/>
          </p:cNvSpPr>
          <p:nvPr>
            <p:ph type="dt" sz="half" idx="10"/>
          </p:nvPr>
        </p:nvSpPr>
        <p:spPr/>
        <p:txBody>
          <a:bodyPr/>
          <a:lstStyle/>
          <a:p>
            <a:fld id="{7A8A7F29-21C4-4D0B-B6C7-15053A84686C}" type="datetimeFigureOut">
              <a:rPr lang="en-IN" smtClean="0"/>
              <a:t>25-04-2026</a:t>
            </a:fld>
            <a:endParaRPr lang="en-IN"/>
          </a:p>
        </p:txBody>
      </p:sp>
      <p:sp>
        <p:nvSpPr>
          <p:cNvPr id="3" name="Footer Placeholder 2">
            <a:extLst>
              <a:ext uri="{FF2B5EF4-FFF2-40B4-BE49-F238E27FC236}">
                <a16:creationId xmlns:a16="http://schemas.microsoft.com/office/drawing/2014/main" id="{9B182A03-555C-CBE6-A56B-322650BF04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B5A52F-03A3-BCFC-B8A5-D94621D0A670}"/>
              </a:ext>
            </a:extLst>
          </p:cNvPr>
          <p:cNvSpPr>
            <a:spLocks noGrp="1"/>
          </p:cNvSpPr>
          <p:nvPr>
            <p:ph type="sldNum" sz="quarter" idx="12"/>
          </p:nvPr>
        </p:nvSpPr>
        <p:spPr/>
        <p:txBody>
          <a:bodyPr/>
          <a:lstStyle/>
          <a:p>
            <a:fld id="{1A4A22B5-3B32-4217-8836-CA447901B703}" type="slidenum">
              <a:rPr lang="en-IN" smtClean="0"/>
              <a:t>‹#›</a:t>
            </a:fld>
            <a:endParaRPr lang="en-IN"/>
          </a:p>
        </p:txBody>
      </p:sp>
    </p:spTree>
    <p:extLst>
      <p:ext uri="{BB962C8B-B14F-4D97-AF65-F5344CB8AC3E}">
        <p14:creationId xmlns:p14="http://schemas.microsoft.com/office/powerpoint/2010/main" val="3264424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0F151-3308-EBC1-A81E-52BAA20570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FFEC9C5-07B1-AA13-6DD1-DB0D6C5E48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C325A4-C208-A774-5164-E6F874CCF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336A93-9BE1-4242-0B36-2270A6180212}"/>
              </a:ext>
            </a:extLst>
          </p:cNvPr>
          <p:cNvSpPr>
            <a:spLocks noGrp="1"/>
          </p:cNvSpPr>
          <p:nvPr>
            <p:ph type="dt" sz="half" idx="10"/>
          </p:nvPr>
        </p:nvSpPr>
        <p:spPr/>
        <p:txBody>
          <a:bodyPr/>
          <a:lstStyle/>
          <a:p>
            <a:fld id="{7A8A7F29-21C4-4D0B-B6C7-15053A84686C}" type="datetimeFigureOut">
              <a:rPr lang="en-IN" smtClean="0"/>
              <a:t>25-04-2026</a:t>
            </a:fld>
            <a:endParaRPr lang="en-IN"/>
          </a:p>
        </p:txBody>
      </p:sp>
      <p:sp>
        <p:nvSpPr>
          <p:cNvPr id="6" name="Footer Placeholder 5">
            <a:extLst>
              <a:ext uri="{FF2B5EF4-FFF2-40B4-BE49-F238E27FC236}">
                <a16:creationId xmlns:a16="http://schemas.microsoft.com/office/drawing/2014/main" id="{73F386C3-EA3B-1EE9-6B80-5E7803DD27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0B43E5-D070-A952-2DF9-BEFE32CFD38E}"/>
              </a:ext>
            </a:extLst>
          </p:cNvPr>
          <p:cNvSpPr>
            <a:spLocks noGrp="1"/>
          </p:cNvSpPr>
          <p:nvPr>
            <p:ph type="sldNum" sz="quarter" idx="12"/>
          </p:nvPr>
        </p:nvSpPr>
        <p:spPr/>
        <p:txBody>
          <a:bodyPr/>
          <a:lstStyle/>
          <a:p>
            <a:fld id="{1A4A22B5-3B32-4217-8836-CA447901B703}" type="slidenum">
              <a:rPr lang="en-IN" smtClean="0"/>
              <a:t>‹#›</a:t>
            </a:fld>
            <a:endParaRPr lang="en-IN"/>
          </a:p>
        </p:txBody>
      </p:sp>
    </p:spTree>
    <p:extLst>
      <p:ext uri="{BB962C8B-B14F-4D97-AF65-F5344CB8AC3E}">
        <p14:creationId xmlns:p14="http://schemas.microsoft.com/office/powerpoint/2010/main" val="1749292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7F4FB-8902-7894-E685-4EA6E90748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4A2AA65-E710-4543-D3F6-57939FEDBB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2E4563C-9EC5-72C5-4488-BF3CBCF493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6C4A48-0894-E231-66B5-55BD11C12CCD}"/>
              </a:ext>
            </a:extLst>
          </p:cNvPr>
          <p:cNvSpPr>
            <a:spLocks noGrp="1"/>
          </p:cNvSpPr>
          <p:nvPr>
            <p:ph type="dt" sz="half" idx="10"/>
          </p:nvPr>
        </p:nvSpPr>
        <p:spPr/>
        <p:txBody>
          <a:bodyPr/>
          <a:lstStyle/>
          <a:p>
            <a:fld id="{7A8A7F29-21C4-4D0B-B6C7-15053A84686C}" type="datetimeFigureOut">
              <a:rPr lang="en-IN" smtClean="0"/>
              <a:t>25-04-2026</a:t>
            </a:fld>
            <a:endParaRPr lang="en-IN"/>
          </a:p>
        </p:txBody>
      </p:sp>
      <p:sp>
        <p:nvSpPr>
          <p:cNvPr id="6" name="Footer Placeholder 5">
            <a:extLst>
              <a:ext uri="{FF2B5EF4-FFF2-40B4-BE49-F238E27FC236}">
                <a16:creationId xmlns:a16="http://schemas.microsoft.com/office/drawing/2014/main" id="{1AFF4D1B-DCEA-DC06-51D2-266BB1DBFB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9A5A84-83D6-E63F-0CC7-1017E238FDF3}"/>
              </a:ext>
            </a:extLst>
          </p:cNvPr>
          <p:cNvSpPr>
            <a:spLocks noGrp="1"/>
          </p:cNvSpPr>
          <p:nvPr>
            <p:ph type="sldNum" sz="quarter" idx="12"/>
          </p:nvPr>
        </p:nvSpPr>
        <p:spPr/>
        <p:txBody>
          <a:bodyPr/>
          <a:lstStyle/>
          <a:p>
            <a:fld id="{1A4A22B5-3B32-4217-8836-CA447901B703}" type="slidenum">
              <a:rPr lang="en-IN" smtClean="0"/>
              <a:t>‹#›</a:t>
            </a:fld>
            <a:endParaRPr lang="en-IN"/>
          </a:p>
        </p:txBody>
      </p:sp>
    </p:spTree>
    <p:extLst>
      <p:ext uri="{BB962C8B-B14F-4D97-AF65-F5344CB8AC3E}">
        <p14:creationId xmlns:p14="http://schemas.microsoft.com/office/powerpoint/2010/main" val="2868031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76BD4-7DD1-4EDA-93FF-C4AB7C7D4D3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331D54-296D-9812-E45D-58F4942095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CF07E7-A08A-650C-F350-E85D7981FE7B}"/>
              </a:ext>
            </a:extLst>
          </p:cNvPr>
          <p:cNvSpPr>
            <a:spLocks noGrp="1"/>
          </p:cNvSpPr>
          <p:nvPr>
            <p:ph type="dt" sz="half" idx="10"/>
          </p:nvPr>
        </p:nvSpPr>
        <p:spPr/>
        <p:txBody>
          <a:bodyPr/>
          <a:lstStyle/>
          <a:p>
            <a:fld id="{7A8A7F29-21C4-4D0B-B6C7-15053A84686C}" type="datetimeFigureOut">
              <a:rPr lang="en-IN" smtClean="0"/>
              <a:t>25-04-2026</a:t>
            </a:fld>
            <a:endParaRPr lang="en-IN"/>
          </a:p>
        </p:txBody>
      </p:sp>
      <p:sp>
        <p:nvSpPr>
          <p:cNvPr id="5" name="Footer Placeholder 4">
            <a:extLst>
              <a:ext uri="{FF2B5EF4-FFF2-40B4-BE49-F238E27FC236}">
                <a16:creationId xmlns:a16="http://schemas.microsoft.com/office/drawing/2014/main" id="{08575517-3BEB-2237-4391-41356EABB7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15585C-6E25-94D5-7CCB-ED8AFBB2AB45}"/>
              </a:ext>
            </a:extLst>
          </p:cNvPr>
          <p:cNvSpPr>
            <a:spLocks noGrp="1"/>
          </p:cNvSpPr>
          <p:nvPr>
            <p:ph type="sldNum" sz="quarter" idx="12"/>
          </p:nvPr>
        </p:nvSpPr>
        <p:spPr/>
        <p:txBody>
          <a:bodyPr/>
          <a:lstStyle/>
          <a:p>
            <a:fld id="{1A4A22B5-3B32-4217-8836-CA447901B703}" type="slidenum">
              <a:rPr lang="en-IN" smtClean="0"/>
              <a:t>‹#›</a:t>
            </a:fld>
            <a:endParaRPr lang="en-IN"/>
          </a:p>
        </p:txBody>
      </p:sp>
    </p:spTree>
    <p:extLst>
      <p:ext uri="{BB962C8B-B14F-4D97-AF65-F5344CB8AC3E}">
        <p14:creationId xmlns:p14="http://schemas.microsoft.com/office/powerpoint/2010/main" val="879966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5F802D-AE7F-E7F6-308C-388568A53F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52C3CD-013A-4395-6059-5F3F775725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A39333-4F24-DBB3-1C89-36896585C7D2}"/>
              </a:ext>
            </a:extLst>
          </p:cNvPr>
          <p:cNvSpPr>
            <a:spLocks noGrp="1"/>
          </p:cNvSpPr>
          <p:nvPr>
            <p:ph type="dt" sz="half" idx="10"/>
          </p:nvPr>
        </p:nvSpPr>
        <p:spPr/>
        <p:txBody>
          <a:bodyPr/>
          <a:lstStyle/>
          <a:p>
            <a:fld id="{7A8A7F29-21C4-4D0B-B6C7-15053A84686C}" type="datetimeFigureOut">
              <a:rPr lang="en-IN" smtClean="0"/>
              <a:t>25-04-2026</a:t>
            </a:fld>
            <a:endParaRPr lang="en-IN"/>
          </a:p>
        </p:txBody>
      </p:sp>
      <p:sp>
        <p:nvSpPr>
          <p:cNvPr id="5" name="Footer Placeholder 4">
            <a:extLst>
              <a:ext uri="{FF2B5EF4-FFF2-40B4-BE49-F238E27FC236}">
                <a16:creationId xmlns:a16="http://schemas.microsoft.com/office/drawing/2014/main" id="{B43D8B4C-8971-861F-5606-9DD0C711A7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F99508-21F2-63D6-8C95-CB43A7CAC94A}"/>
              </a:ext>
            </a:extLst>
          </p:cNvPr>
          <p:cNvSpPr>
            <a:spLocks noGrp="1"/>
          </p:cNvSpPr>
          <p:nvPr>
            <p:ph type="sldNum" sz="quarter" idx="12"/>
          </p:nvPr>
        </p:nvSpPr>
        <p:spPr/>
        <p:txBody>
          <a:bodyPr/>
          <a:lstStyle/>
          <a:p>
            <a:fld id="{1A4A22B5-3B32-4217-8836-CA447901B703}" type="slidenum">
              <a:rPr lang="en-IN" smtClean="0"/>
              <a:t>‹#›</a:t>
            </a:fld>
            <a:endParaRPr lang="en-IN"/>
          </a:p>
        </p:txBody>
      </p:sp>
    </p:spTree>
    <p:extLst>
      <p:ext uri="{BB962C8B-B14F-4D97-AF65-F5344CB8AC3E}">
        <p14:creationId xmlns:p14="http://schemas.microsoft.com/office/powerpoint/2010/main" val="2561832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9F7A49-3AFC-1486-4B88-D92FB7FB53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E21CBB-AF5E-8FA3-5648-5456F747AC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65A51A-ED3D-3EAE-7B75-59D8871C21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A7F29-21C4-4D0B-B6C7-15053A84686C}" type="datetimeFigureOut">
              <a:rPr lang="en-IN" smtClean="0"/>
              <a:t>25-04-2026</a:t>
            </a:fld>
            <a:endParaRPr lang="en-IN"/>
          </a:p>
        </p:txBody>
      </p:sp>
      <p:sp>
        <p:nvSpPr>
          <p:cNvPr id="5" name="Footer Placeholder 4">
            <a:extLst>
              <a:ext uri="{FF2B5EF4-FFF2-40B4-BE49-F238E27FC236}">
                <a16:creationId xmlns:a16="http://schemas.microsoft.com/office/drawing/2014/main" id="{3148BBE8-3E07-7123-06F0-1A5ED4A0A4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CB0408-544A-A673-3E5D-0C6F7FB5EC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4A22B5-3B32-4217-8836-CA447901B703}" type="slidenum">
              <a:rPr lang="en-IN" smtClean="0"/>
              <a:t>‹#›</a:t>
            </a:fld>
            <a:endParaRPr lang="en-IN"/>
          </a:p>
        </p:txBody>
      </p:sp>
    </p:spTree>
    <p:extLst>
      <p:ext uri="{BB962C8B-B14F-4D97-AF65-F5344CB8AC3E}">
        <p14:creationId xmlns:p14="http://schemas.microsoft.com/office/powerpoint/2010/main" val="553248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3990A-8617-8031-B99A-47706CFECD80}"/>
              </a:ext>
            </a:extLst>
          </p:cNvPr>
          <p:cNvSpPr>
            <a:spLocks noGrp="1"/>
          </p:cNvSpPr>
          <p:nvPr>
            <p:ph type="ctrTitle"/>
          </p:nvPr>
        </p:nvSpPr>
        <p:spPr/>
        <p:txBody>
          <a:bodyPr/>
          <a:lstStyle/>
          <a:p>
            <a:r>
              <a:rPr lang="en-US" b="1" dirty="0"/>
              <a:t>ANALYSIS OF MOBILE PHONE FEATURES AND PRICE</a:t>
            </a:r>
            <a:endParaRPr lang="en-IN" b="1" dirty="0"/>
          </a:p>
        </p:txBody>
      </p:sp>
      <p:sp>
        <p:nvSpPr>
          <p:cNvPr id="3" name="Subtitle 2">
            <a:extLst>
              <a:ext uri="{FF2B5EF4-FFF2-40B4-BE49-F238E27FC236}">
                <a16:creationId xmlns:a16="http://schemas.microsoft.com/office/drawing/2014/main" id="{A8707DE7-BD36-8427-EDDF-575C98DD65CF}"/>
              </a:ext>
            </a:extLst>
          </p:cNvPr>
          <p:cNvSpPr>
            <a:spLocks noGrp="1"/>
          </p:cNvSpPr>
          <p:nvPr>
            <p:ph type="subTitle" idx="1"/>
          </p:nvPr>
        </p:nvSpPr>
        <p:spPr/>
        <p:txBody>
          <a:bodyPr/>
          <a:lstStyle/>
          <a:p>
            <a:r>
              <a:rPr lang="en-US" dirty="0"/>
              <a:t>NAME ; MILLEE CHAUDHARY</a:t>
            </a:r>
          </a:p>
          <a:p>
            <a:r>
              <a:rPr lang="en-US" dirty="0"/>
              <a:t>TO;  NEXTHIKES IT SOLUTIONS </a:t>
            </a:r>
            <a:endParaRPr lang="en-IN" dirty="0"/>
          </a:p>
        </p:txBody>
      </p:sp>
    </p:spTree>
    <p:extLst>
      <p:ext uri="{BB962C8B-B14F-4D97-AF65-F5344CB8AC3E}">
        <p14:creationId xmlns:p14="http://schemas.microsoft.com/office/powerpoint/2010/main" val="1923126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4FF0A-2240-8CE8-5FA8-0DC42D70B0BD}"/>
              </a:ext>
            </a:extLst>
          </p:cNvPr>
          <p:cNvSpPr>
            <a:spLocks noGrp="1"/>
          </p:cNvSpPr>
          <p:nvPr>
            <p:ph type="title"/>
          </p:nvPr>
        </p:nvSpPr>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7E787F26-78FB-1EF4-A754-25600E8607CC}"/>
              </a:ext>
            </a:extLst>
          </p:cNvPr>
          <p:cNvSpPr>
            <a:spLocks noGrp="1"/>
          </p:cNvSpPr>
          <p:nvPr>
            <p:ph idx="1"/>
          </p:nvPr>
        </p:nvSpPr>
        <p:spPr/>
        <p:txBody>
          <a:bodyPr/>
          <a:lstStyle/>
          <a:p>
            <a:r>
              <a:rPr lang="en-US" dirty="0"/>
              <a:t>In today’s smartphone market, mobile prices vary based on features like RAM, battery, and camera quality.</a:t>
            </a:r>
          </a:p>
          <a:p>
            <a:r>
              <a:rPr lang="en-US" dirty="0"/>
              <a:t>This project focuses on analyzing mobile phone data to understand how different features affect the price.</a:t>
            </a:r>
            <a:endParaRPr lang="en-IN" dirty="0"/>
          </a:p>
        </p:txBody>
      </p:sp>
    </p:spTree>
    <p:extLst>
      <p:ext uri="{BB962C8B-B14F-4D97-AF65-F5344CB8AC3E}">
        <p14:creationId xmlns:p14="http://schemas.microsoft.com/office/powerpoint/2010/main" val="2231082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A1E67-0B4C-589D-7917-ACB6318F9B91}"/>
              </a:ext>
            </a:extLst>
          </p:cNvPr>
          <p:cNvSpPr>
            <a:spLocks noGrp="1"/>
          </p:cNvSpPr>
          <p:nvPr>
            <p:ph type="title"/>
          </p:nvPr>
        </p:nvSpPr>
        <p:spPr/>
        <p:txBody>
          <a:bodyPr/>
          <a:lstStyle/>
          <a:p>
            <a:r>
              <a:rPr lang="en-US" b="1" dirty="0"/>
              <a:t>OBJECTIVE</a:t>
            </a:r>
            <a:endParaRPr lang="en-IN" b="1" dirty="0"/>
          </a:p>
        </p:txBody>
      </p:sp>
      <p:sp>
        <p:nvSpPr>
          <p:cNvPr id="3" name="Content Placeholder 2">
            <a:extLst>
              <a:ext uri="{FF2B5EF4-FFF2-40B4-BE49-F238E27FC236}">
                <a16:creationId xmlns:a16="http://schemas.microsoft.com/office/drawing/2014/main" id="{35E8C417-9383-DF2D-1DBC-A71DFA49AB1B}"/>
              </a:ext>
            </a:extLst>
          </p:cNvPr>
          <p:cNvSpPr>
            <a:spLocks noGrp="1"/>
          </p:cNvSpPr>
          <p:nvPr>
            <p:ph idx="1"/>
          </p:nvPr>
        </p:nvSpPr>
        <p:spPr/>
        <p:txBody>
          <a:bodyPr/>
          <a:lstStyle/>
          <a:p>
            <a:pPr marL="0" indent="0">
              <a:buNone/>
            </a:pPr>
            <a:endParaRPr lang="en-US" dirty="0"/>
          </a:p>
          <a:p>
            <a:r>
              <a:rPr lang="en-US" dirty="0"/>
              <a:t>To analyze mobile phone dataset</a:t>
            </a:r>
          </a:p>
          <a:p>
            <a:r>
              <a:rPr lang="en-US" dirty="0"/>
              <a:t>To understand relationship between features and price</a:t>
            </a:r>
          </a:p>
          <a:p>
            <a:r>
              <a:rPr lang="en-US" dirty="0"/>
              <a:t>To visualize important patterns using graphs</a:t>
            </a:r>
          </a:p>
          <a:p>
            <a:endParaRPr lang="en-IN" dirty="0"/>
          </a:p>
        </p:txBody>
      </p:sp>
    </p:spTree>
    <p:extLst>
      <p:ext uri="{BB962C8B-B14F-4D97-AF65-F5344CB8AC3E}">
        <p14:creationId xmlns:p14="http://schemas.microsoft.com/office/powerpoint/2010/main" val="3463145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0BD90-64FC-2698-C678-3405B1CFB43A}"/>
              </a:ext>
            </a:extLst>
          </p:cNvPr>
          <p:cNvSpPr>
            <a:spLocks noGrp="1"/>
          </p:cNvSpPr>
          <p:nvPr>
            <p:ph type="title"/>
          </p:nvPr>
        </p:nvSpPr>
        <p:spPr/>
        <p:txBody>
          <a:bodyPr/>
          <a:lstStyle/>
          <a:p>
            <a:r>
              <a:rPr lang="en-US" b="1" dirty="0"/>
              <a:t>DATASET DESCRIPTION</a:t>
            </a:r>
            <a:endParaRPr lang="en-IN" b="1" dirty="0"/>
          </a:p>
        </p:txBody>
      </p:sp>
      <p:sp>
        <p:nvSpPr>
          <p:cNvPr id="3" name="Content Placeholder 2">
            <a:extLst>
              <a:ext uri="{FF2B5EF4-FFF2-40B4-BE49-F238E27FC236}">
                <a16:creationId xmlns:a16="http://schemas.microsoft.com/office/drawing/2014/main" id="{C2BCF383-A08C-4BCA-D185-A624C260024D}"/>
              </a:ext>
            </a:extLst>
          </p:cNvPr>
          <p:cNvSpPr>
            <a:spLocks noGrp="1"/>
          </p:cNvSpPr>
          <p:nvPr>
            <p:ph idx="1"/>
          </p:nvPr>
        </p:nvSpPr>
        <p:spPr/>
        <p:txBody>
          <a:bodyPr>
            <a:normAutofit lnSpcReduction="10000"/>
          </a:bodyPr>
          <a:lstStyle/>
          <a:p>
            <a:r>
              <a:rPr lang="en-US" dirty="0"/>
              <a:t>The dataset contains information about various mobile phones with features such as:</a:t>
            </a:r>
          </a:p>
          <a:p>
            <a:r>
              <a:rPr lang="en-US" dirty="0"/>
              <a:t>RAM</a:t>
            </a:r>
          </a:p>
          <a:p>
            <a:r>
              <a:rPr lang="en-US" dirty="0"/>
              <a:t>Battery</a:t>
            </a:r>
          </a:p>
          <a:p>
            <a:r>
              <a:rPr lang="en-US" dirty="0"/>
              <a:t>Rear Camera</a:t>
            </a:r>
          </a:p>
          <a:p>
            <a:r>
              <a:rPr lang="en-US" dirty="0"/>
              <a:t>Front Camera</a:t>
            </a:r>
          </a:p>
          <a:p>
            <a:r>
              <a:rPr lang="en-US" dirty="0" err="1"/>
              <a:t>Colour</a:t>
            </a:r>
            <a:endParaRPr lang="en-US" dirty="0"/>
          </a:p>
          <a:p>
            <a:r>
              <a:rPr lang="en-US" dirty="0"/>
              <a:t>Processor</a:t>
            </a:r>
          </a:p>
          <a:p>
            <a:r>
              <a:rPr lang="en-US" dirty="0"/>
              <a:t>Price (Prize column in dataset)</a:t>
            </a:r>
          </a:p>
        </p:txBody>
      </p:sp>
    </p:spTree>
    <p:extLst>
      <p:ext uri="{BB962C8B-B14F-4D97-AF65-F5344CB8AC3E}">
        <p14:creationId xmlns:p14="http://schemas.microsoft.com/office/powerpoint/2010/main" val="3340994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5D78B-0127-AE2B-47F5-648F0CB25020}"/>
              </a:ext>
            </a:extLst>
          </p:cNvPr>
          <p:cNvSpPr>
            <a:spLocks noGrp="1"/>
          </p:cNvSpPr>
          <p:nvPr>
            <p:ph type="title"/>
          </p:nvPr>
        </p:nvSpPr>
        <p:spPr/>
        <p:txBody>
          <a:bodyPr/>
          <a:lstStyle/>
          <a:p>
            <a:r>
              <a:rPr lang="en-US" b="1" dirty="0"/>
              <a:t>DATA PROCESSING</a:t>
            </a:r>
            <a:endParaRPr lang="en-IN" b="1" dirty="0"/>
          </a:p>
        </p:txBody>
      </p:sp>
      <p:sp>
        <p:nvSpPr>
          <p:cNvPr id="3" name="Content Placeholder 2">
            <a:extLst>
              <a:ext uri="{FF2B5EF4-FFF2-40B4-BE49-F238E27FC236}">
                <a16:creationId xmlns:a16="http://schemas.microsoft.com/office/drawing/2014/main" id="{92FDA8FB-E64A-57C9-8928-9EABCF1F3290}"/>
              </a:ext>
            </a:extLst>
          </p:cNvPr>
          <p:cNvSpPr>
            <a:spLocks noGrp="1"/>
          </p:cNvSpPr>
          <p:nvPr>
            <p:ph idx="1"/>
          </p:nvPr>
        </p:nvSpPr>
        <p:spPr/>
        <p:txBody>
          <a:bodyPr/>
          <a:lstStyle/>
          <a:p>
            <a:r>
              <a:rPr lang="en-IN" dirty="0"/>
              <a:t>The dataset was cleaned before analysis:</a:t>
            </a:r>
          </a:p>
          <a:p>
            <a:r>
              <a:rPr lang="en-IN" dirty="0"/>
              <a:t>Removed extra spaces from column names</a:t>
            </a:r>
          </a:p>
          <a:p>
            <a:r>
              <a:rPr lang="en-IN" dirty="0"/>
              <a:t>Converted “Prize” column into numeric format</a:t>
            </a:r>
          </a:p>
          <a:p>
            <a:r>
              <a:rPr lang="en-IN" dirty="0"/>
              <a:t>Removed “MP” from camera columns</a:t>
            </a:r>
          </a:p>
          <a:p>
            <a:r>
              <a:rPr lang="en-IN" dirty="0"/>
              <a:t>Dropped unnecessary columns like Model, Indexer, etc.</a:t>
            </a:r>
          </a:p>
          <a:p>
            <a:r>
              <a:rPr lang="en-IN" dirty="0"/>
              <a:t>Removed missing values</a:t>
            </a:r>
          </a:p>
        </p:txBody>
      </p:sp>
    </p:spTree>
    <p:extLst>
      <p:ext uri="{BB962C8B-B14F-4D97-AF65-F5344CB8AC3E}">
        <p14:creationId xmlns:p14="http://schemas.microsoft.com/office/powerpoint/2010/main" val="2293726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547B4-4F14-B7F1-CF77-BFEDB2BA3D8C}"/>
              </a:ext>
            </a:extLst>
          </p:cNvPr>
          <p:cNvSpPr>
            <a:spLocks noGrp="1"/>
          </p:cNvSpPr>
          <p:nvPr>
            <p:ph type="title"/>
          </p:nvPr>
        </p:nvSpPr>
        <p:spPr/>
        <p:txBody>
          <a:bodyPr/>
          <a:lstStyle/>
          <a:p>
            <a:r>
              <a:rPr lang="en-US" b="1" dirty="0"/>
              <a:t>DATA VISUALIZATION</a:t>
            </a:r>
            <a:endParaRPr lang="en-IN" b="1" dirty="0"/>
          </a:p>
        </p:txBody>
      </p:sp>
      <p:sp>
        <p:nvSpPr>
          <p:cNvPr id="3" name="Content Placeholder 2">
            <a:extLst>
              <a:ext uri="{FF2B5EF4-FFF2-40B4-BE49-F238E27FC236}">
                <a16:creationId xmlns:a16="http://schemas.microsoft.com/office/drawing/2014/main" id="{55FC84C9-6B70-4A82-E556-4C8BBDCFFD9E}"/>
              </a:ext>
            </a:extLst>
          </p:cNvPr>
          <p:cNvSpPr>
            <a:spLocks noGrp="1"/>
          </p:cNvSpPr>
          <p:nvPr>
            <p:ph idx="1"/>
          </p:nvPr>
        </p:nvSpPr>
        <p:spPr/>
        <p:txBody>
          <a:bodyPr>
            <a:normAutofit/>
          </a:bodyPr>
          <a:lstStyle/>
          <a:p>
            <a:r>
              <a:rPr lang="en-US" dirty="0"/>
              <a:t>Different graphs were used to analyze the data:</a:t>
            </a:r>
          </a:p>
          <a:p>
            <a:r>
              <a:rPr lang="en-US" dirty="0"/>
              <a:t>Heatmap</a:t>
            </a:r>
          </a:p>
          <a:p>
            <a:r>
              <a:rPr lang="en-US" dirty="0"/>
              <a:t>Shows correlation between important features and price.</a:t>
            </a:r>
          </a:p>
          <a:p>
            <a:r>
              <a:rPr lang="en-US" dirty="0"/>
              <a:t>Histogram (Displays distribution of mobile prices).</a:t>
            </a:r>
          </a:p>
          <a:p>
            <a:r>
              <a:rPr lang="en-US" dirty="0"/>
              <a:t>Scatter Plot ((RAM vs Price) Shows how RAM affects price).</a:t>
            </a:r>
          </a:p>
          <a:p>
            <a:r>
              <a:rPr lang="en-US" dirty="0"/>
              <a:t>Scatter Plot ((Battery vs Price) Shows how battery capacity affects  price).</a:t>
            </a:r>
            <a:endParaRPr lang="en-IN" dirty="0"/>
          </a:p>
        </p:txBody>
      </p:sp>
    </p:spTree>
    <p:extLst>
      <p:ext uri="{BB962C8B-B14F-4D97-AF65-F5344CB8AC3E}">
        <p14:creationId xmlns:p14="http://schemas.microsoft.com/office/powerpoint/2010/main" val="4094597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0254A-359F-E684-EACF-2774100C28A4}"/>
              </a:ext>
            </a:extLst>
          </p:cNvPr>
          <p:cNvSpPr>
            <a:spLocks noGrp="1"/>
          </p:cNvSpPr>
          <p:nvPr>
            <p:ph type="title"/>
          </p:nvPr>
        </p:nvSpPr>
        <p:spPr/>
        <p:txBody>
          <a:bodyPr/>
          <a:lstStyle/>
          <a:p>
            <a:r>
              <a:rPr lang="en-US" b="1" dirty="0"/>
              <a:t>RAM VS PRICE (SCATTER PLOT)</a:t>
            </a:r>
            <a:endParaRPr lang="en-IN" b="1" dirty="0"/>
          </a:p>
        </p:txBody>
      </p:sp>
      <p:sp>
        <p:nvSpPr>
          <p:cNvPr id="3" name="Content Placeholder 2">
            <a:extLst>
              <a:ext uri="{FF2B5EF4-FFF2-40B4-BE49-F238E27FC236}">
                <a16:creationId xmlns:a16="http://schemas.microsoft.com/office/drawing/2014/main" id="{B4EF7A93-1393-3A98-7B0D-A3313D83F79A}"/>
              </a:ext>
            </a:extLst>
          </p:cNvPr>
          <p:cNvSpPr>
            <a:spLocks noGrp="1"/>
          </p:cNvSpPr>
          <p:nvPr>
            <p:ph idx="1"/>
          </p:nvPr>
        </p:nvSpPr>
        <p:spPr>
          <a:xfrm>
            <a:off x="838201" y="1690688"/>
            <a:ext cx="3733800" cy="4995247"/>
          </a:xfrm>
        </p:spPr>
        <p:txBody>
          <a:bodyPr>
            <a:normAutofit fontScale="70000" lnSpcReduction="20000"/>
          </a:bodyPr>
          <a:lstStyle/>
          <a:p>
            <a:r>
              <a:rPr lang="en-US" dirty="0"/>
              <a:t>This graph visualizes the relationship between a phone's memory and its cost.</a:t>
            </a:r>
          </a:p>
          <a:p>
            <a:r>
              <a:rPr lang="en-US" dirty="0"/>
              <a:t>​Observation: As RAM increases from 2GB to 8GB, the price range expands significantly. While there are budget options at almost every RAM level, the highest price points (near 80,000) are almost exclusively occupied by phones with 8GB or higher.</a:t>
            </a:r>
          </a:p>
          <a:p>
            <a:r>
              <a:rPr lang="en-US" dirty="0"/>
              <a:t>​Insight: There is a positive correlation here, but it isn't perfectly linear. This suggests that while more RAM usually means a higher price, other factors also play a role in making a phone "premium."</a:t>
            </a:r>
            <a:endParaRPr lang="en-IN" dirty="0"/>
          </a:p>
        </p:txBody>
      </p:sp>
      <p:pic>
        <p:nvPicPr>
          <p:cNvPr id="5" name="Picture 4">
            <a:extLst>
              <a:ext uri="{FF2B5EF4-FFF2-40B4-BE49-F238E27FC236}">
                <a16:creationId xmlns:a16="http://schemas.microsoft.com/office/drawing/2014/main" id="{0040692F-8807-A781-CEE3-6DB1A27D60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5192" y="1234435"/>
            <a:ext cx="5852172" cy="4389129"/>
          </a:xfrm>
          <a:prstGeom prst="rect">
            <a:avLst/>
          </a:prstGeom>
        </p:spPr>
      </p:pic>
    </p:spTree>
    <p:extLst>
      <p:ext uri="{BB962C8B-B14F-4D97-AF65-F5344CB8AC3E}">
        <p14:creationId xmlns:p14="http://schemas.microsoft.com/office/powerpoint/2010/main" val="1382367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74DC9-6DDE-4F9A-67FA-FFCAE1992046}"/>
              </a:ext>
            </a:extLst>
          </p:cNvPr>
          <p:cNvSpPr>
            <a:spLocks noGrp="1"/>
          </p:cNvSpPr>
          <p:nvPr>
            <p:ph type="title"/>
          </p:nvPr>
        </p:nvSpPr>
        <p:spPr/>
        <p:txBody>
          <a:bodyPr/>
          <a:lstStyle/>
          <a:p>
            <a:r>
              <a:rPr lang="en-US" b="1" dirty="0"/>
              <a:t>PRICE DISTRIBUTION (HISTOGRAM)</a:t>
            </a:r>
            <a:endParaRPr lang="en-IN" b="1" dirty="0"/>
          </a:p>
        </p:txBody>
      </p:sp>
      <p:sp>
        <p:nvSpPr>
          <p:cNvPr id="3" name="Content Placeholder 2">
            <a:extLst>
              <a:ext uri="{FF2B5EF4-FFF2-40B4-BE49-F238E27FC236}">
                <a16:creationId xmlns:a16="http://schemas.microsoft.com/office/drawing/2014/main" id="{66CE4354-22AB-7AA9-C644-E35A98C91106}"/>
              </a:ext>
            </a:extLst>
          </p:cNvPr>
          <p:cNvSpPr>
            <a:spLocks noGrp="1"/>
          </p:cNvSpPr>
          <p:nvPr>
            <p:ph idx="1"/>
          </p:nvPr>
        </p:nvSpPr>
        <p:spPr>
          <a:xfrm>
            <a:off x="838200" y="1825625"/>
            <a:ext cx="3910781" cy="5224104"/>
          </a:xfrm>
        </p:spPr>
        <p:txBody>
          <a:bodyPr>
            <a:normAutofit fontScale="77500" lnSpcReduction="20000"/>
          </a:bodyPr>
          <a:lstStyle/>
          <a:p>
            <a:r>
              <a:rPr lang="en-US" dirty="0"/>
              <a:t>​This chart shows how many phones fall into specific price brackets.</a:t>
            </a:r>
          </a:p>
          <a:p>
            <a:r>
              <a:rPr lang="en-US" dirty="0"/>
              <a:t>​Observation: The data is Right-Skewed. A massive majority of the phones are clustered in the 10,000 to 20,000 price range. As the price goes higher, the number of available models drops sharply.</a:t>
            </a:r>
          </a:p>
          <a:p>
            <a:r>
              <a:rPr lang="en-US" dirty="0"/>
              <a:t>​Insight: The dataset represents a market dominated by "Budget" and "Mid-range" devices. The phones priced above 50,000 are statistical outliers, representing the luxury/flagship segment.</a:t>
            </a:r>
            <a:endParaRPr lang="en-IN" dirty="0"/>
          </a:p>
        </p:txBody>
      </p:sp>
      <p:pic>
        <p:nvPicPr>
          <p:cNvPr id="5" name="Picture 4">
            <a:extLst>
              <a:ext uri="{FF2B5EF4-FFF2-40B4-BE49-F238E27FC236}">
                <a16:creationId xmlns:a16="http://schemas.microsoft.com/office/drawing/2014/main" id="{90C5CDCB-E339-E154-949C-C12396B911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1628" y="1568732"/>
            <a:ext cx="5852172" cy="4389129"/>
          </a:xfrm>
          <a:prstGeom prst="rect">
            <a:avLst/>
          </a:prstGeom>
        </p:spPr>
      </p:pic>
    </p:spTree>
    <p:extLst>
      <p:ext uri="{BB962C8B-B14F-4D97-AF65-F5344CB8AC3E}">
        <p14:creationId xmlns:p14="http://schemas.microsoft.com/office/powerpoint/2010/main" val="2740678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91748-62CB-30B0-DF31-B810736A7105}"/>
              </a:ext>
            </a:extLst>
          </p:cNvPr>
          <p:cNvSpPr>
            <a:spLocks noGrp="1"/>
          </p:cNvSpPr>
          <p:nvPr>
            <p:ph type="title"/>
          </p:nvPr>
        </p:nvSpPr>
        <p:spPr/>
        <p:txBody>
          <a:bodyPr/>
          <a:lstStyle/>
          <a:p>
            <a:r>
              <a:rPr lang="en-US" b="1" dirty="0"/>
              <a:t>CORRELATION MATRIX (HEATMAP)</a:t>
            </a:r>
            <a:endParaRPr lang="en-IN" b="1" dirty="0"/>
          </a:p>
        </p:txBody>
      </p:sp>
      <p:sp>
        <p:nvSpPr>
          <p:cNvPr id="3" name="Content Placeholder 2">
            <a:extLst>
              <a:ext uri="{FF2B5EF4-FFF2-40B4-BE49-F238E27FC236}">
                <a16:creationId xmlns:a16="http://schemas.microsoft.com/office/drawing/2014/main" id="{BE94194F-B94D-55CB-8E12-83DFEA6326FE}"/>
              </a:ext>
            </a:extLst>
          </p:cNvPr>
          <p:cNvSpPr>
            <a:spLocks noGrp="1"/>
          </p:cNvSpPr>
          <p:nvPr>
            <p:ph idx="1"/>
          </p:nvPr>
        </p:nvSpPr>
        <p:spPr>
          <a:xfrm>
            <a:off x="838199" y="1825625"/>
            <a:ext cx="3861619" cy="4351338"/>
          </a:xfrm>
        </p:spPr>
        <p:txBody>
          <a:bodyPr>
            <a:normAutofit fontScale="62500" lnSpcReduction="20000"/>
          </a:bodyPr>
          <a:lstStyle/>
          <a:p>
            <a:r>
              <a:rPr lang="en-US" dirty="0"/>
              <a:t>This is the most critical tool for understanding which features actually "drive" the price.</a:t>
            </a:r>
          </a:p>
          <a:p>
            <a:r>
              <a:rPr lang="en-US" dirty="0"/>
              <a:t>​Key Correlations with Price:</a:t>
            </a:r>
          </a:p>
          <a:p>
            <a:r>
              <a:rPr lang="en-US" dirty="0"/>
              <a:t>​RAM (0.53) &amp; Front Camera (0.53): These have the strongest positive correlation with price.</a:t>
            </a:r>
          </a:p>
          <a:p>
            <a:r>
              <a:rPr lang="en-US" dirty="0"/>
              <a:t>​Rear Camera (0.41): This has a moderate impact on the cost.</a:t>
            </a:r>
          </a:p>
          <a:p>
            <a:r>
              <a:rPr lang="en-US" dirty="0"/>
              <a:t>​Battery (-0.034): Surprisingly, battery size has a near-zero/slightly negative correlation with price.</a:t>
            </a:r>
          </a:p>
          <a:p>
            <a:r>
              <a:rPr lang="en-US" dirty="0"/>
              <a:t>​Insight: This proves that manufacturers charge a premium for performance (RAM) and selfie quality (Front Camera), rather than battery capacity.</a:t>
            </a:r>
            <a:endParaRPr lang="en-IN" dirty="0"/>
          </a:p>
        </p:txBody>
      </p:sp>
      <p:pic>
        <p:nvPicPr>
          <p:cNvPr id="5" name="Picture 4">
            <a:extLst>
              <a:ext uri="{FF2B5EF4-FFF2-40B4-BE49-F238E27FC236}">
                <a16:creationId xmlns:a16="http://schemas.microsoft.com/office/drawing/2014/main" id="{A48CB9E1-0DC1-B786-0A59-EED7429085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6985" y="1258088"/>
            <a:ext cx="6756415" cy="5486411"/>
          </a:xfrm>
          <a:prstGeom prst="rect">
            <a:avLst/>
          </a:prstGeom>
        </p:spPr>
      </p:pic>
    </p:spTree>
    <p:extLst>
      <p:ext uri="{BB962C8B-B14F-4D97-AF65-F5344CB8AC3E}">
        <p14:creationId xmlns:p14="http://schemas.microsoft.com/office/powerpoint/2010/main" val="2298212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32D75-64C8-2CEB-1666-22EE6FB35F1B}"/>
              </a:ext>
            </a:extLst>
          </p:cNvPr>
          <p:cNvSpPr>
            <a:spLocks noGrp="1"/>
          </p:cNvSpPr>
          <p:nvPr>
            <p:ph type="title"/>
          </p:nvPr>
        </p:nvSpPr>
        <p:spPr/>
        <p:txBody>
          <a:bodyPr/>
          <a:lstStyle/>
          <a:p>
            <a:r>
              <a:rPr lang="en-US" b="1" dirty="0"/>
              <a:t>OBSERVATION</a:t>
            </a:r>
            <a:r>
              <a:rPr lang="en-US" dirty="0"/>
              <a:t> </a:t>
            </a:r>
            <a:endParaRPr lang="en-IN" dirty="0"/>
          </a:p>
        </p:txBody>
      </p:sp>
      <p:sp>
        <p:nvSpPr>
          <p:cNvPr id="3" name="Content Placeholder 2">
            <a:extLst>
              <a:ext uri="{FF2B5EF4-FFF2-40B4-BE49-F238E27FC236}">
                <a16:creationId xmlns:a16="http://schemas.microsoft.com/office/drawing/2014/main" id="{1EE56B65-AE5A-74BF-0A5A-D8B48F25B522}"/>
              </a:ext>
            </a:extLst>
          </p:cNvPr>
          <p:cNvSpPr>
            <a:spLocks noGrp="1"/>
          </p:cNvSpPr>
          <p:nvPr>
            <p:ph idx="1"/>
          </p:nvPr>
        </p:nvSpPr>
        <p:spPr/>
        <p:txBody>
          <a:bodyPr>
            <a:normAutofit fontScale="85000" lnSpcReduction="20000"/>
          </a:bodyPr>
          <a:lstStyle/>
          <a:p>
            <a:r>
              <a:rPr lang="en-US" dirty="0"/>
              <a:t>Based on the statistical evidence from these graphs, we can conclude the following:</a:t>
            </a:r>
          </a:p>
          <a:p>
            <a:r>
              <a:rPr lang="en-US" dirty="0"/>
              <a:t>​Price Determinants: RAM and Front Camera quality are the primary predictors of a smartphone's price. If a phone is expensive, it is highly likely to have high RAM and a high-end front camera.</a:t>
            </a:r>
          </a:p>
          <a:p>
            <a:r>
              <a:rPr lang="en-US" dirty="0"/>
              <a:t>​The Battery Paradox: Battery capacity is not a premium feature. In fact, large batteries are often found in cheaper, bulkier "budget" phones, whereas expensive flagship phones might prioritize slim design or fast charging over raw battery size.</a:t>
            </a:r>
          </a:p>
          <a:p>
            <a:r>
              <a:rPr lang="en-US" dirty="0"/>
              <a:t>​Market Focus: The "sweet spot" for the market is the 10k-20k range. Manufacturers focus most of their volume in this area.</a:t>
            </a:r>
          </a:p>
          <a:p>
            <a:r>
              <a:rPr lang="en-US" dirty="0"/>
              <a:t>​Feature Bundling: There is a strong correlation (0.51) between Front and Rear cameras, meaning that if a manufacturer upgrades one, they usually upgrade the other, collectively driving the price up.</a:t>
            </a:r>
            <a:endParaRPr lang="en-IN" dirty="0"/>
          </a:p>
        </p:txBody>
      </p:sp>
    </p:spTree>
    <p:extLst>
      <p:ext uri="{BB962C8B-B14F-4D97-AF65-F5344CB8AC3E}">
        <p14:creationId xmlns:p14="http://schemas.microsoft.com/office/powerpoint/2010/main" val="31992971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TotalTime>
  <Words>674</Words>
  <Application>Microsoft Office PowerPoint</Application>
  <PresentationFormat>Widescreen</PresentationFormat>
  <Paragraphs>55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ANALYSIS OF MOBILE PHONE FEATURES AND PRICE</vt:lpstr>
      <vt:lpstr>INTRODUCTION</vt:lpstr>
      <vt:lpstr>OBJECTIVE</vt:lpstr>
      <vt:lpstr>DATASET DESCRIPTION</vt:lpstr>
      <vt:lpstr>DATA PROCESSING</vt:lpstr>
      <vt:lpstr>DATA VISUALIZATION</vt:lpstr>
      <vt:lpstr>RAM VS PRICE (SCATTER PLOT)</vt:lpstr>
      <vt:lpstr>PRICE DISTRIBUTION (HISTOGRAM)</vt:lpstr>
      <vt:lpstr>CORRELATION MATRIX (HEATMAP)</vt:lpstr>
      <vt:lpstr>OBSERVATION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Nabhya Chaudhary</dc:creator>
  <cp:lastModifiedBy>Nabhya Chaudhary</cp:lastModifiedBy>
  <cp:revision>2</cp:revision>
  <dcterms:created xsi:type="dcterms:W3CDTF">2026-04-24T21:13:59Z</dcterms:created>
  <dcterms:modified xsi:type="dcterms:W3CDTF">2026-04-25T01:06:19Z</dcterms:modified>
</cp:coreProperties>
</file>